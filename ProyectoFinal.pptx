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60" r:id="rId5"/>
    <p:sldId id="264" r:id="rId6"/>
    <p:sldId id="261" r:id="rId7"/>
    <p:sldId id="265" r:id="rId8"/>
    <p:sldId id="263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1A33-A7A8-4230-9E7B-A6C223C9C8CE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3FCD-ED55-47C7-8D1E-433E95250A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6455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1A33-A7A8-4230-9E7B-A6C223C9C8CE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3FCD-ED55-47C7-8D1E-433E95250A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263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1A33-A7A8-4230-9E7B-A6C223C9C8CE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3FCD-ED55-47C7-8D1E-433E95250A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4059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1A33-A7A8-4230-9E7B-A6C223C9C8CE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3FCD-ED55-47C7-8D1E-433E95250A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769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1A33-A7A8-4230-9E7B-A6C223C9C8CE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3FCD-ED55-47C7-8D1E-433E95250A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636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1A33-A7A8-4230-9E7B-A6C223C9C8CE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3FCD-ED55-47C7-8D1E-433E95250A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6574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1A33-A7A8-4230-9E7B-A6C223C9C8CE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3FCD-ED55-47C7-8D1E-433E95250A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5092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1A33-A7A8-4230-9E7B-A6C223C9C8CE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3FCD-ED55-47C7-8D1E-433E95250A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8821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1A33-A7A8-4230-9E7B-A6C223C9C8CE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3FCD-ED55-47C7-8D1E-433E95250A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1398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1A33-A7A8-4230-9E7B-A6C223C9C8CE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3FCD-ED55-47C7-8D1E-433E95250A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1898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1A33-A7A8-4230-9E7B-A6C223C9C8CE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3FCD-ED55-47C7-8D1E-433E95250A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2637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1A33-A7A8-4230-9E7B-A6C223C9C8CE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3FCD-ED55-47C7-8D1E-433E95250AFC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3782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1A33-A7A8-4230-9E7B-A6C223C9C8CE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3FCD-ED55-47C7-8D1E-433E95250A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3461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1A33-A7A8-4230-9E7B-A6C223C9C8CE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3FCD-ED55-47C7-8D1E-433E95250A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72862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1A33-A7A8-4230-9E7B-A6C223C9C8CE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3FCD-ED55-47C7-8D1E-433E95250A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88568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1A33-A7A8-4230-9E7B-A6C223C9C8CE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3FCD-ED55-47C7-8D1E-433E95250A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01393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1A33-A7A8-4230-9E7B-A6C223C9C8CE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3FCD-ED55-47C7-8D1E-433E95250A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1095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31A33-A7A8-4230-9E7B-A6C223C9C8CE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A3FCD-ED55-47C7-8D1E-433E95250A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49131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58022" y="4848132"/>
            <a:ext cx="9001462" cy="1655762"/>
          </a:xfrm>
        </p:spPr>
        <p:txBody>
          <a:bodyPr/>
          <a:lstStyle/>
          <a:p>
            <a:r>
              <a:rPr lang="en-CA" dirty="0"/>
              <a:t>DESPLIEGUE Y SEGURIDAD DE UNA PLATAFORMA DE TICKETING MULTIEMPRESA EN LA </a:t>
            </a:r>
            <a:r>
              <a:rPr lang="en-CA" dirty="0" smtClean="0"/>
              <a:t>NUBE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82" y="-711200"/>
            <a:ext cx="12037964" cy="548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779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i="1" dirty="0" smtClean="0"/>
              <a:t>Finalidad</a:t>
            </a:r>
            <a:r>
              <a:rPr lang="es-ES" dirty="0" smtClean="0"/>
              <a:t> del proyecto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13795" y="1773845"/>
            <a:ext cx="10353762" cy="41566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 smtClean="0"/>
              <a:t>El proyecto tiene como finalidad, ayudar a las pequeñas organizaciones a gestionar sus incidencias basándose en los siguientes puntos:</a:t>
            </a:r>
          </a:p>
          <a:p>
            <a:pPr marL="0" indent="0">
              <a:buNone/>
            </a:pPr>
            <a:endParaRPr lang="es-ES" dirty="0" smtClean="0"/>
          </a:p>
          <a:p>
            <a:pPr lvl="1">
              <a:buFont typeface="Wingdings" panose="05000000000000000000" pitchFamily="2" charset="2"/>
              <a:buChar char="q"/>
            </a:pPr>
            <a:r>
              <a:rPr lang="es-ES" dirty="0" smtClean="0"/>
              <a:t>La aplicación es ligera</a:t>
            </a:r>
            <a:r>
              <a:rPr lang="es-ES" dirty="0"/>
              <a:t>, segura y </a:t>
            </a:r>
            <a:r>
              <a:rPr lang="es-ES" dirty="0" smtClean="0"/>
              <a:t>gratuita.</a:t>
            </a:r>
            <a:endParaRPr lang="es-E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s-ES" dirty="0"/>
              <a:t>Capaz de registrar, seguir y resolver </a:t>
            </a:r>
            <a:r>
              <a:rPr lang="es-ES" dirty="0" smtClean="0"/>
              <a:t>tickets.</a:t>
            </a:r>
            <a:endParaRPr lang="es-E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s-ES" dirty="0"/>
              <a:t>Fácil de desplegar en entornos </a:t>
            </a:r>
            <a:r>
              <a:rPr lang="es-ES" dirty="0" smtClean="0"/>
              <a:t>multiempresa.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s-ES" dirty="0" smtClean="0"/>
              <a:t> </a:t>
            </a:r>
            <a:r>
              <a:rPr lang="es-ES" dirty="0"/>
              <a:t>Pequeñas organizaciones y equipos </a:t>
            </a:r>
            <a:r>
              <a:rPr lang="es-ES" dirty="0" smtClean="0"/>
              <a:t>distribuidos.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s-ES" dirty="0" smtClean="0"/>
              <a:t> </a:t>
            </a:r>
            <a:r>
              <a:rPr lang="es-ES" dirty="0"/>
              <a:t>Gestión multiempresa desde una única </a:t>
            </a:r>
            <a:r>
              <a:rPr lang="es-ES" dirty="0" smtClean="0"/>
              <a:t>instancia.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s-ES" dirty="0" smtClean="0"/>
              <a:t>Uso </a:t>
            </a:r>
            <a:r>
              <a:rPr lang="es-ES" dirty="0"/>
              <a:t>de tecnologías de software libre y servicios gratuitos de AWS Free </a:t>
            </a:r>
            <a:r>
              <a:rPr lang="es-ES" dirty="0" err="1" smtClean="0"/>
              <a:t>Tier</a:t>
            </a:r>
            <a:r>
              <a:rPr lang="es-ES" dirty="0" smtClean="0"/>
              <a:t>.</a:t>
            </a:r>
            <a:endParaRPr lang="es-ES" dirty="0"/>
          </a:p>
          <a:p>
            <a:endParaRPr lang="es-ES" dirty="0" smtClean="0"/>
          </a:p>
          <a:p>
            <a:endParaRPr lang="es-E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44138" y="1269665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845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i="1" dirty="0"/>
              <a:t>Arquitectura de la aplicación 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s-ES" dirty="0" smtClean="0"/>
              <a:t> </a:t>
            </a:r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r>
              <a:rPr lang="es-ES" sz="8000" b="1" dirty="0" smtClean="0"/>
              <a:t>Cliente</a:t>
            </a:r>
            <a:r>
              <a:rPr lang="es-ES" sz="8000" dirty="0" smtClean="0"/>
              <a:t> </a:t>
            </a:r>
            <a:r>
              <a:rPr lang="es-ES" sz="8000" dirty="0"/>
              <a:t>(</a:t>
            </a:r>
            <a:r>
              <a:rPr lang="es-ES" sz="7200" dirty="0" err="1"/>
              <a:t>Frontend</a:t>
            </a:r>
            <a:r>
              <a:rPr lang="es-ES" sz="8000" dirty="0"/>
              <a:t>)</a:t>
            </a:r>
          </a:p>
          <a:p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15"/>
          </p:nvPr>
        </p:nvSpPr>
        <p:spPr>
          <a:xfrm>
            <a:off x="913794" y="2804047"/>
            <a:ext cx="3298956" cy="2879576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endParaRPr lang="es-ES" dirty="0" smtClean="0"/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s-ES" sz="1600" dirty="0" smtClean="0"/>
              <a:t> El navegador </a:t>
            </a:r>
            <a:r>
              <a:rPr lang="es-ES" sz="1600" dirty="0"/>
              <a:t>web accede a la aplicación vía </a:t>
            </a:r>
            <a:r>
              <a:rPr lang="es-ES" sz="1600" dirty="0" smtClean="0"/>
              <a:t>HTTP desde una ip pública.</a:t>
            </a:r>
            <a:endParaRPr lang="es-ES" sz="1600" dirty="0"/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s-ES" dirty="0" smtClean="0"/>
              <a:t> Una interfaz </a:t>
            </a:r>
            <a:r>
              <a:rPr lang="es-ES" dirty="0"/>
              <a:t>simple y funcional adaptada desde software libre (</a:t>
            </a:r>
            <a:r>
              <a:rPr lang="es-ES" dirty="0" err="1"/>
              <a:t>Ticketfly</a:t>
            </a:r>
            <a:r>
              <a:rPr lang="es-ES" dirty="0" smtClean="0"/>
              <a:t>).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Uso de Ajax y </a:t>
            </a:r>
            <a:r>
              <a:rPr lang="es-ES" dirty="0" err="1" smtClean="0"/>
              <a:t>javascript</a:t>
            </a:r>
            <a:r>
              <a:rPr lang="es-ES" dirty="0" smtClean="0"/>
              <a:t>.</a:t>
            </a:r>
            <a:endParaRPr lang="es-ES" dirty="0"/>
          </a:p>
          <a:p>
            <a:endParaRPr lang="es-ES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sz="half" idx="16"/>
          </p:nvPr>
        </p:nvSpPr>
        <p:spPr>
          <a:xfrm>
            <a:off x="4328337" y="2911624"/>
            <a:ext cx="3299821" cy="2879576"/>
          </a:xfrm>
        </p:spPr>
        <p:txBody>
          <a:bodyPr>
            <a:normAutofit fontScale="85000" lnSpcReduction="20000"/>
          </a:bodyPr>
          <a:lstStyle/>
          <a:p>
            <a:pPr algn="l"/>
            <a:endParaRPr lang="es-ES" dirty="0" smtClean="0"/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s-ES" sz="1700" dirty="0" smtClean="0"/>
              <a:t>Uso de lenguaje PHP.</a:t>
            </a:r>
            <a:endParaRPr lang="es-ES" sz="1700" dirty="0"/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s-ES" sz="1700" dirty="0"/>
              <a:t>Servidor </a:t>
            </a:r>
            <a:r>
              <a:rPr lang="es-ES" sz="1700" dirty="0" smtClean="0"/>
              <a:t>web Apache alojado en </a:t>
            </a:r>
            <a:r>
              <a:rPr lang="es-ES" sz="1700" dirty="0" err="1" smtClean="0"/>
              <a:t>en</a:t>
            </a:r>
            <a:r>
              <a:rPr lang="es-ES" sz="1700" dirty="0" smtClean="0"/>
              <a:t> un </a:t>
            </a:r>
            <a:r>
              <a:rPr lang="es-ES" sz="1700" dirty="0"/>
              <a:t>contenedor </a:t>
            </a:r>
            <a:r>
              <a:rPr lang="es-ES" sz="1700" dirty="0" smtClean="0"/>
              <a:t>Docker.</a:t>
            </a:r>
            <a:endParaRPr lang="es-ES" sz="1700" dirty="0"/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s-ES" sz="1700" dirty="0"/>
              <a:t>Lógica de negocio: Validaciones, control de tickets y usuarios con soporte </a:t>
            </a:r>
            <a:r>
              <a:rPr lang="es-ES" sz="1700" dirty="0" smtClean="0"/>
              <a:t>multiempresa según el </a:t>
            </a:r>
            <a:r>
              <a:rPr lang="es-ES" sz="1700" dirty="0" err="1" smtClean="0"/>
              <a:t>empresa_id</a:t>
            </a:r>
            <a:r>
              <a:rPr lang="es-ES" sz="1700" dirty="0" smtClean="0"/>
              <a:t>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s-ES" sz="1700" dirty="0" smtClean="0"/>
              <a:t>Subida </a:t>
            </a:r>
            <a:r>
              <a:rPr lang="es-ES" sz="1700" dirty="0"/>
              <a:t>de archivos: Adaptada para usar Amazon </a:t>
            </a:r>
            <a:r>
              <a:rPr lang="es-ES" sz="1700" dirty="0" smtClean="0"/>
              <a:t>S3.</a:t>
            </a:r>
            <a:endParaRPr lang="es-ES" sz="1700" dirty="0"/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13"/>
          </p:nvPr>
        </p:nvSpPr>
        <p:spPr>
          <a:xfrm>
            <a:off x="7973297" y="2088319"/>
            <a:ext cx="3291211" cy="823304"/>
          </a:xfrm>
        </p:spPr>
        <p:txBody>
          <a:bodyPr>
            <a:normAutofit fontScale="25000" lnSpcReduction="20000"/>
          </a:bodyPr>
          <a:lstStyle/>
          <a:p>
            <a:pPr lvl="0">
              <a:lnSpc>
                <a:spcPct val="120000"/>
              </a:lnSpc>
            </a:pPr>
            <a:endParaRPr lang="es-ES" sz="1400" b="1" dirty="0" smtClean="0">
              <a:solidFill>
                <a:prstClr val="white"/>
              </a:solidFill>
            </a:endParaRPr>
          </a:p>
          <a:p>
            <a:pPr lvl="0">
              <a:lnSpc>
                <a:spcPct val="120000"/>
              </a:lnSpc>
            </a:pPr>
            <a:endParaRPr lang="es-ES" sz="1400" b="1" dirty="0">
              <a:solidFill>
                <a:prstClr val="white"/>
              </a:solidFill>
            </a:endParaRPr>
          </a:p>
          <a:p>
            <a:pPr lvl="0">
              <a:lnSpc>
                <a:spcPct val="120000"/>
              </a:lnSpc>
            </a:pPr>
            <a:endParaRPr lang="es-ES" sz="1400" b="1" dirty="0" smtClean="0">
              <a:solidFill>
                <a:prstClr val="white"/>
              </a:solidFill>
            </a:endParaRPr>
          </a:p>
          <a:p>
            <a:pPr lvl="0">
              <a:lnSpc>
                <a:spcPct val="120000"/>
              </a:lnSpc>
            </a:pPr>
            <a:endParaRPr lang="es-ES" sz="1400" b="1" dirty="0">
              <a:solidFill>
                <a:prstClr val="white"/>
              </a:solidFill>
            </a:endParaRPr>
          </a:p>
          <a:p>
            <a:pPr lvl="0">
              <a:lnSpc>
                <a:spcPct val="120000"/>
              </a:lnSpc>
            </a:pPr>
            <a:endParaRPr lang="es-ES" sz="1400" b="1" dirty="0" smtClean="0">
              <a:solidFill>
                <a:prstClr val="white"/>
              </a:solidFill>
            </a:endParaRPr>
          </a:p>
          <a:p>
            <a:pPr lvl="0">
              <a:lnSpc>
                <a:spcPct val="120000"/>
              </a:lnSpc>
            </a:pPr>
            <a:endParaRPr lang="es-ES" sz="1400" b="1" dirty="0">
              <a:solidFill>
                <a:prstClr val="white"/>
              </a:solidFill>
            </a:endParaRPr>
          </a:p>
          <a:p>
            <a:pPr lvl="0">
              <a:lnSpc>
                <a:spcPct val="120000"/>
              </a:lnSpc>
            </a:pPr>
            <a:endParaRPr lang="es-ES" sz="1400" b="1" dirty="0" smtClean="0">
              <a:solidFill>
                <a:prstClr val="white"/>
              </a:solidFill>
            </a:endParaRPr>
          </a:p>
          <a:p>
            <a:pPr lvl="0">
              <a:lnSpc>
                <a:spcPct val="120000"/>
              </a:lnSpc>
            </a:pPr>
            <a:r>
              <a:rPr lang="es-ES" sz="7200" b="1" dirty="0" smtClean="0">
                <a:solidFill>
                  <a:prstClr val="white"/>
                </a:solidFill>
              </a:rPr>
              <a:t>Base </a:t>
            </a:r>
            <a:r>
              <a:rPr lang="es-ES" sz="7200" b="1" dirty="0">
                <a:solidFill>
                  <a:prstClr val="white"/>
                </a:solidFill>
              </a:rPr>
              <a:t>de Datos</a:t>
            </a:r>
          </a:p>
          <a:p>
            <a:endParaRPr lang="es-ES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sz="half" idx="17"/>
          </p:nvPr>
        </p:nvSpPr>
        <p:spPr>
          <a:xfrm>
            <a:off x="7973298" y="3162636"/>
            <a:ext cx="3291211" cy="2879576"/>
          </a:xfrm>
        </p:spPr>
        <p:txBody>
          <a:bodyPr/>
          <a:lstStyle/>
          <a:p>
            <a:r>
              <a:rPr lang="es-ES" b="1" dirty="0" smtClean="0"/>
              <a:t>Motor</a:t>
            </a:r>
            <a:r>
              <a:rPr lang="es-ES" b="1" dirty="0"/>
              <a:t>:</a:t>
            </a:r>
            <a:r>
              <a:rPr lang="es-ES" dirty="0"/>
              <a:t> </a:t>
            </a:r>
            <a:r>
              <a:rPr lang="es-ES" dirty="0" err="1"/>
              <a:t>MySQL</a:t>
            </a:r>
            <a:r>
              <a:rPr lang="es-ES" dirty="0"/>
              <a:t> gestionado con </a:t>
            </a:r>
            <a:r>
              <a:rPr lang="es-ES" b="1" dirty="0"/>
              <a:t>Amazon </a:t>
            </a:r>
            <a:r>
              <a:rPr lang="es-ES" b="1" dirty="0" smtClean="0"/>
              <a:t>RDS</a:t>
            </a:r>
            <a:endParaRPr lang="es-ES" dirty="0" smtClean="0"/>
          </a:p>
          <a:p>
            <a:endParaRPr lang="es-ES" b="1" dirty="0"/>
          </a:p>
          <a:p>
            <a:r>
              <a:rPr lang="es-ES" b="1" dirty="0" smtClean="0"/>
              <a:t>Ventajas</a:t>
            </a:r>
            <a:r>
              <a:rPr lang="es-ES" b="1" dirty="0"/>
              <a:t>:</a:t>
            </a:r>
            <a:endParaRPr lang="es-ES" dirty="0"/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s-ES" dirty="0"/>
              <a:t>Separación de cómputo y almacenamiento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s-ES" dirty="0" err="1"/>
              <a:t>Backups</a:t>
            </a:r>
            <a:r>
              <a:rPr lang="es-ES" dirty="0"/>
              <a:t> automáticos y escalabilidad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s-ES" dirty="0"/>
              <a:t>Conexión cifrada</a:t>
            </a:r>
          </a:p>
          <a:p>
            <a:endParaRPr lang="es-ES" dirty="0"/>
          </a:p>
        </p:txBody>
      </p:sp>
      <p:sp>
        <p:nvSpPr>
          <p:cNvPr id="11" name="Rectángulo 10"/>
          <p:cNvSpPr/>
          <p:nvPr/>
        </p:nvSpPr>
        <p:spPr>
          <a:xfrm>
            <a:off x="4696845" y="2315305"/>
            <a:ext cx="23015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 dirty="0">
                <a:solidFill>
                  <a:prstClr val="white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Servidor</a:t>
            </a:r>
            <a:r>
              <a:rPr lang="es-ES" dirty="0" smtClean="0"/>
              <a:t> (</a:t>
            </a:r>
            <a:r>
              <a:rPr lang="es-ES" dirty="0" err="1" smtClean="0"/>
              <a:t>Backend</a:t>
            </a:r>
            <a:r>
              <a:rPr lang="es-ES" dirty="0" smtClean="0"/>
              <a:t>)</a:t>
            </a:r>
            <a:endParaRPr lang="es-ES" dirty="0"/>
          </a:p>
        </p:txBody>
      </p:sp>
      <p:cxnSp>
        <p:nvCxnSpPr>
          <p:cNvPr id="14" name="Conector recto de flecha 13"/>
          <p:cNvCxnSpPr/>
          <p:nvPr/>
        </p:nvCxnSpPr>
        <p:spPr>
          <a:xfrm>
            <a:off x="9609937" y="3699825"/>
            <a:ext cx="8965" cy="439271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327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i="1" dirty="0"/>
              <a:t>Arquitectura de la aplicación</a:t>
            </a:r>
            <a:endParaRPr lang="es-ES" dirty="0"/>
          </a:p>
        </p:txBody>
      </p:sp>
      <p:sp>
        <p:nvSpPr>
          <p:cNvPr id="13" name="Marcador de texto 12"/>
          <p:cNvSpPr>
            <a:spLocks noGrp="1"/>
          </p:cNvSpPr>
          <p:nvPr>
            <p:ph type="body" idx="1"/>
          </p:nvPr>
        </p:nvSpPr>
        <p:spPr>
          <a:xfrm>
            <a:off x="116064" y="1878966"/>
            <a:ext cx="4212750" cy="823305"/>
          </a:xfrm>
        </p:spPr>
        <p:txBody>
          <a:bodyPr/>
          <a:lstStyle/>
          <a:p>
            <a:r>
              <a:rPr lang="es-ES" sz="1800" i="1" dirty="0"/>
              <a:t>Contenedores y </a:t>
            </a:r>
            <a:r>
              <a:rPr lang="es-ES" sz="1800" i="1" dirty="0" smtClean="0"/>
              <a:t>Orquestación</a:t>
            </a:r>
          </a:p>
          <a:p>
            <a:r>
              <a:rPr lang="es-ES" sz="1800" i="1" dirty="0" smtClean="0"/>
              <a:t>(Docker + ECS</a:t>
            </a:r>
            <a:r>
              <a:rPr lang="es-ES" sz="1800" dirty="0" smtClean="0"/>
              <a:t>)</a:t>
            </a:r>
            <a:endParaRPr lang="es-ES" sz="1800" dirty="0"/>
          </a:p>
        </p:txBody>
      </p:sp>
      <p:sp>
        <p:nvSpPr>
          <p:cNvPr id="16" name="Marcador de texto 15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3560296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s-ES" sz="1600" dirty="0" smtClean="0"/>
              <a:t>App </a:t>
            </a:r>
            <a:r>
              <a:rPr lang="es-ES" sz="1600" dirty="0"/>
              <a:t>empaquetada en una imagen con PHP + </a:t>
            </a:r>
            <a:r>
              <a:rPr lang="es-ES" sz="1600" dirty="0" smtClean="0"/>
              <a:t>Apache.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s-ES" sz="1600" dirty="0" smtClean="0"/>
              <a:t>Amazon </a:t>
            </a:r>
            <a:r>
              <a:rPr lang="es-ES" sz="1600" dirty="0"/>
              <a:t>ECS </a:t>
            </a:r>
            <a:r>
              <a:rPr lang="es-ES" sz="1600" dirty="0" smtClean="0"/>
              <a:t>: Crea  </a:t>
            </a:r>
            <a:r>
              <a:rPr lang="es-ES" sz="1600" dirty="0"/>
              <a:t>los contenedores en instancias gratuitas </a:t>
            </a:r>
            <a:r>
              <a:rPr lang="es-ES" sz="1600" dirty="0" smtClean="0"/>
              <a:t>t2.micro.</a:t>
            </a:r>
          </a:p>
          <a:p>
            <a:r>
              <a:rPr lang="es-ES" sz="1600" dirty="0" smtClean="0"/>
              <a:t>Ventajas: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s-ES" sz="1600" dirty="0" smtClean="0"/>
              <a:t>Escalabilidad horizontal.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s-ES" sz="1600" dirty="0" smtClean="0"/>
              <a:t>Fácil mantenimiento.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s-ES" sz="1600" dirty="0" smtClean="0"/>
              <a:t> despliegue.</a:t>
            </a:r>
            <a:endParaRPr lang="es-ES" sz="1600" dirty="0"/>
          </a:p>
        </p:txBody>
      </p:sp>
      <p:sp>
        <p:nvSpPr>
          <p:cNvPr id="14" name="Marcador de texto 13"/>
          <p:cNvSpPr>
            <a:spLocks noGrp="1"/>
          </p:cNvSpPr>
          <p:nvPr>
            <p:ph type="body" sz="quarter" idx="3"/>
          </p:nvPr>
        </p:nvSpPr>
        <p:spPr>
          <a:xfrm>
            <a:off x="4212750" y="1669613"/>
            <a:ext cx="3298558" cy="823304"/>
          </a:xfrm>
        </p:spPr>
        <p:txBody>
          <a:bodyPr>
            <a:normAutofit fontScale="32500" lnSpcReduction="20000"/>
          </a:bodyPr>
          <a:lstStyle/>
          <a:p>
            <a:pPr lvl="0">
              <a:lnSpc>
                <a:spcPct val="120000"/>
              </a:lnSpc>
            </a:pPr>
            <a:endParaRPr lang="es-ES" sz="1800" b="1" dirty="0" smtClean="0">
              <a:solidFill>
                <a:prstClr val="white"/>
              </a:solidFill>
            </a:endParaRPr>
          </a:p>
          <a:p>
            <a:pPr lvl="0">
              <a:lnSpc>
                <a:spcPct val="120000"/>
              </a:lnSpc>
            </a:pPr>
            <a:endParaRPr lang="es-ES" sz="1800" b="1" dirty="0">
              <a:solidFill>
                <a:prstClr val="white"/>
              </a:solidFill>
            </a:endParaRPr>
          </a:p>
          <a:p>
            <a:pPr lvl="0">
              <a:lnSpc>
                <a:spcPct val="120000"/>
              </a:lnSpc>
            </a:pPr>
            <a:r>
              <a:rPr lang="es-ES" sz="5500" b="1" dirty="0" smtClean="0">
                <a:solidFill>
                  <a:prstClr val="white"/>
                </a:solidFill>
              </a:rPr>
              <a:t>Seguridad</a:t>
            </a:r>
            <a:endParaRPr lang="es-ES" sz="5500" b="1" dirty="0">
              <a:solidFill>
                <a:prstClr val="white"/>
              </a:solidFill>
            </a:endParaRPr>
          </a:p>
          <a:p>
            <a:endParaRPr lang="es-ES" sz="1800" i="1" dirty="0"/>
          </a:p>
        </p:txBody>
      </p:sp>
      <p:sp>
        <p:nvSpPr>
          <p:cNvPr id="17" name="Marcador de texto 16"/>
          <p:cNvSpPr>
            <a:spLocks noGrp="1"/>
          </p:cNvSpPr>
          <p:nvPr>
            <p:ph type="body" sz="half" idx="16"/>
          </p:nvPr>
        </p:nvSpPr>
        <p:spPr>
          <a:xfrm>
            <a:off x="4443615" y="2911624"/>
            <a:ext cx="3299821" cy="2879576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s-ES" sz="1600" dirty="0"/>
              <a:t>Cifrado </a:t>
            </a:r>
            <a:r>
              <a:rPr lang="es-ES" sz="1600" dirty="0" smtClean="0"/>
              <a:t>HTTPS </a:t>
            </a:r>
            <a:r>
              <a:rPr lang="es-ES" sz="1600" dirty="0"/>
              <a:t>con certificados de Amazon </a:t>
            </a:r>
            <a:r>
              <a:rPr lang="es-ES" sz="1600" dirty="0" smtClean="0"/>
              <a:t>ACM.</a:t>
            </a:r>
            <a:endParaRPr lang="es-ES" sz="1600" dirty="0"/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s-ES" sz="1600" dirty="0"/>
              <a:t>Control de acceso con:</a:t>
            </a:r>
          </a:p>
          <a:p>
            <a:pPr marL="742950" lvl="2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s-ES" sz="1400" dirty="0"/>
              <a:t>IAM </a:t>
            </a:r>
            <a:r>
              <a:rPr lang="es-ES" sz="1400" dirty="0" smtClean="0"/>
              <a:t>Roles.</a:t>
            </a:r>
            <a:endParaRPr lang="es-ES" sz="1400" dirty="0"/>
          </a:p>
          <a:p>
            <a:pPr marL="742950" lvl="2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s-ES" sz="1400" dirty="0"/>
              <a:t>Security </a:t>
            </a:r>
            <a:r>
              <a:rPr lang="es-ES" sz="1400" dirty="0" err="1" smtClean="0"/>
              <a:t>Groups</a:t>
            </a:r>
            <a:r>
              <a:rPr lang="es-ES" sz="1400" dirty="0" smtClean="0"/>
              <a:t>.</a:t>
            </a:r>
            <a:endParaRPr lang="es-ES" sz="1400" dirty="0"/>
          </a:p>
          <a:p>
            <a:pPr marL="742950" lvl="2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s-ES" sz="1400" dirty="0" err="1"/>
              <a:t>Secrets</a:t>
            </a:r>
            <a:r>
              <a:rPr lang="es-ES" sz="1400" dirty="0"/>
              <a:t> Manager para credenciales </a:t>
            </a:r>
            <a:r>
              <a:rPr lang="es-ES" sz="1400" dirty="0" smtClean="0"/>
              <a:t>cifradas.</a:t>
            </a:r>
            <a:endParaRPr lang="es-ES" sz="1400" dirty="0"/>
          </a:p>
          <a:p>
            <a:endParaRPr lang="es-ES" dirty="0"/>
          </a:p>
        </p:txBody>
      </p:sp>
      <p:sp>
        <p:nvSpPr>
          <p:cNvPr id="15" name="Marcador de texto 14"/>
          <p:cNvSpPr>
            <a:spLocks noGrp="1"/>
          </p:cNvSpPr>
          <p:nvPr>
            <p:ph type="body" sz="quarter" idx="13"/>
          </p:nvPr>
        </p:nvSpPr>
        <p:spPr>
          <a:xfrm>
            <a:off x="7976345" y="1467314"/>
            <a:ext cx="3291211" cy="823304"/>
          </a:xfrm>
        </p:spPr>
        <p:txBody>
          <a:bodyPr/>
          <a:lstStyle/>
          <a:p>
            <a:r>
              <a:rPr lang="es-ES" sz="1800" b="1" dirty="0"/>
              <a:t>Diseño y Despliegue</a:t>
            </a:r>
          </a:p>
        </p:txBody>
      </p:sp>
      <p:sp>
        <p:nvSpPr>
          <p:cNvPr id="18" name="Marcador de texto 17"/>
          <p:cNvSpPr>
            <a:spLocks noGrp="1"/>
          </p:cNvSpPr>
          <p:nvPr>
            <p:ph type="body" sz="half" idx="17"/>
          </p:nvPr>
        </p:nvSpPr>
        <p:spPr/>
        <p:txBody>
          <a:bodyPr>
            <a:normAutofit lnSpcReduction="10000"/>
          </a:bodyPr>
          <a:lstStyle/>
          <a:p>
            <a:pPr marL="457200" lvl="2">
              <a:spcBef>
                <a:spcPts val="1000"/>
              </a:spcBef>
            </a:pPr>
            <a:r>
              <a:rPr lang="es-ES" sz="1400" dirty="0"/>
              <a:t>Infraestructura como Código con Terraform y </a:t>
            </a:r>
            <a:r>
              <a:rPr lang="es-ES" sz="1400" dirty="0" smtClean="0"/>
              <a:t>los </a:t>
            </a:r>
            <a:r>
              <a:rPr lang="es-ES" sz="1400" dirty="0" err="1" smtClean="0"/>
              <a:t>microservicios</a:t>
            </a:r>
            <a:r>
              <a:rPr lang="es-ES" sz="1400" dirty="0" smtClean="0"/>
              <a:t> de </a:t>
            </a:r>
            <a:r>
              <a:rPr lang="es-ES" sz="1400" dirty="0" err="1"/>
              <a:t>aws</a:t>
            </a:r>
            <a:r>
              <a:rPr lang="es-ES" sz="1400" dirty="0"/>
              <a:t> free </a:t>
            </a:r>
            <a:r>
              <a:rPr lang="es-ES" sz="1400" dirty="0" err="1"/>
              <a:t>tier</a:t>
            </a:r>
            <a:r>
              <a:rPr lang="es-ES" sz="1400" dirty="0"/>
              <a:t> VPC, EC2, ECS, RDS, S3, ALB, </a:t>
            </a:r>
            <a:r>
              <a:rPr lang="es-ES" sz="1400" dirty="0" smtClean="0"/>
              <a:t>IAM, </a:t>
            </a:r>
            <a:r>
              <a:rPr lang="es-ES" sz="1400" dirty="0"/>
              <a:t>ACM</a:t>
            </a:r>
          </a:p>
          <a:p>
            <a:pPr marL="457200" lvl="2" algn="ctr">
              <a:spcBef>
                <a:spcPts val="1000"/>
              </a:spcBef>
            </a:pPr>
            <a:r>
              <a:rPr lang="es-ES" sz="1400" dirty="0"/>
              <a:t>Beneficios:</a:t>
            </a:r>
          </a:p>
          <a:p>
            <a:pPr marL="742950" lvl="2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s-ES" sz="1400" dirty="0"/>
              <a:t>Manejo y control de versiones</a:t>
            </a:r>
          </a:p>
          <a:p>
            <a:pPr marL="742950" lvl="2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s-ES" sz="1400" dirty="0"/>
              <a:t>Despliegue automático y modular</a:t>
            </a:r>
          </a:p>
          <a:p>
            <a:pPr lvl="1"/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06942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8332" y="121920"/>
            <a:ext cx="10353761" cy="1326321"/>
          </a:xfrm>
        </p:spPr>
        <p:txBody>
          <a:bodyPr/>
          <a:lstStyle/>
          <a:p>
            <a:r>
              <a:rPr lang="es-ES" dirty="0" smtClean="0"/>
              <a:t>micro servicios AWS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3177" y="1166949"/>
            <a:ext cx="11521440" cy="5416731"/>
          </a:xfrm>
        </p:spPr>
        <p:txBody>
          <a:bodyPr numCol="2"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s-ES" b="1" dirty="0"/>
              <a:t>VPC (Virtual </a:t>
            </a:r>
            <a:r>
              <a:rPr lang="es-ES" b="1" dirty="0" err="1"/>
              <a:t>Private</a:t>
            </a:r>
            <a:r>
              <a:rPr lang="es-ES" b="1" dirty="0"/>
              <a:t> Cloud)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1400" dirty="0"/>
              <a:t>Una red privada dentro de AWS donde puedes lanzar </a:t>
            </a:r>
            <a:r>
              <a:rPr lang="es-ES" sz="1400" dirty="0" smtClean="0"/>
              <a:t>recursos    como </a:t>
            </a:r>
            <a:r>
              <a:rPr lang="es-ES" sz="1400" dirty="0"/>
              <a:t>EC2.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ES" b="1" dirty="0"/>
              <a:t>EC2 (</a:t>
            </a:r>
            <a:r>
              <a:rPr lang="es-ES" b="1" dirty="0" err="1"/>
              <a:t>Elastic</a:t>
            </a:r>
            <a:r>
              <a:rPr lang="es-ES" b="1" dirty="0"/>
              <a:t> Compute Cloud)</a:t>
            </a:r>
          </a:p>
          <a:p>
            <a:pPr marL="0" indent="0">
              <a:buNone/>
            </a:pPr>
            <a:r>
              <a:rPr lang="es-ES" sz="1400" dirty="0"/>
              <a:t>Instancias (servidores virtuales) donde puedes correr tus aplicaciones.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ES" b="1" dirty="0"/>
              <a:t>ECS (</a:t>
            </a:r>
            <a:r>
              <a:rPr lang="es-ES" b="1" dirty="0" err="1"/>
              <a:t>Elastic</a:t>
            </a:r>
            <a:r>
              <a:rPr lang="es-ES" b="1" dirty="0"/>
              <a:t> </a:t>
            </a:r>
            <a:r>
              <a:rPr lang="es-ES" b="1" dirty="0" err="1"/>
              <a:t>Container</a:t>
            </a:r>
            <a:r>
              <a:rPr lang="es-ES" b="1" dirty="0"/>
              <a:t> </a:t>
            </a:r>
            <a:r>
              <a:rPr lang="es-ES" b="1" dirty="0" err="1"/>
              <a:t>Service</a:t>
            </a:r>
            <a:r>
              <a:rPr lang="es-ES" b="1" dirty="0"/>
              <a:t>)</a:t>
            </a:r>
          </a:p>
          <a:p>
            <a:pPr marL="0" indent="0">
              <a:buNone/>
            </a:pPr>
            <a:r>
              <a:rPr lang="es-ES" sz="1400" dirty="0"/>
              <a:t>Servicio para correr contenedores (como Docker). Te permite orquestarlos sin tener que montar tu propio clúster.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ES" b="1" dirty="0"/>
              <a:t>RDS (</a:t>
            </a:r>
            <a:r>
              <a:rPr lang="es-ES" b="1" dirty="0" err="1"/>
              <a:t>Relational</a:t>
            </a:r>
            <a:r>
              <a:rPr lang="es-ES" b="1" dirty="0"/>
              <a:t> Database </a:t>
            </a:r>
            <a:r>
              <a:rPr lang="es-ES" b="1" dirty="0" err="1"/>
              <a:t>Service</a:t>
            </a:r>
            <a:r>
              <a:rPr lang="es-ES" b="1" dirty="0"/>
              <a:t>)</a:t>
            </a:r>
          </a:p>
          <a:p>
            <a:pPr marL="0" indent="0">
              <a:buNone/>
            </a:pPr>
            <a:r>
              <a:rPr lang="es-ES" sz="1400" dirty="0" smtClean="0"/>
              <a:t>Base de datos administrada. Puedes usar </a:t>
            </a:r>
            <a:r>
              <a:rPr lang="es-ES" sz="1400" dirty="0" err="1" smtClean="0"/>
              <a:t>MySQL</a:t>
            </a:r>
            <a:r>
              <a:rPr lang="es-ES" sz="1400" dirty="0" smtClean="0"/>
              <a:t>, </a:t>
            </a:r>
            <a:r>
              <a:rPr lang="es-ES" sz="1400" dirty="0" err="1" smtClean="0"/>
              <a:t>PostgreSQL</a:t>
            </a:r>
            <a:r>
              <a:rPr lang="es-ES" sz="1400" dirty="0" smtClean="0"/>
              <a:t>, SQL Server, etc., sin preocuparte por la instalación o mantenimiento.</a:t>
            </a:r>
          </a:p>
          <a:p>
            <a:pPr marL="0" indent="0">
              <a:buNone/>
            </a:pPr>
            <a:endParaRPr lang="es-ES" b="1" dirty="0"/>
          </a:p>
          <a:p>
            <a:pPr>
              <a:buFont typeface="Wingdings" panose="05000000000000000000" pitchFamily="2" charset="2"/>
              <a:buChar char="q"/>
            </a:pPr>
            <a:endParaRPr lang="es-ES" b="1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s-ES" b="1" dirty="0" smtClean="0"/>
              <a:t>S3 </a:t>
            </a:r>
            <a:r>
              <a:rPr lang="es-ES" b="1" dirty="0"/>
              <a:t>(Simple Storage </a:t>
            </a:r>
            <a:r>
              <a:rPr lang="es-ES" b="1" dirty="0" err="1"/>
              <a:t>Service</a:t>
            </a:r>
            <a:r>
              <a:rPr lang="es-ES" b="1" dirty="0"/>
              <a:t>)</a:t>
            </a:r>
          </a:p>
          <a:p>
            <a:pPr marL="0" indent="0">
              <a:buNone/>
            </a:pPr>
            <a:r>
              <a:rPr lang="es-ES" sz="1400" dirty="0"/>
              <a:t>Almacenamiento de objetos. Ideal para guardar archivos, imágenes, </a:t>
            </a:r>
            <a:r>
              <a:rPr lang="es-ES" sz="1400" dirty="0" err="1"/>
              <a:t>backups</a:t>
            </a:r>
            <a:r>
              <a:rPr lang="es-ES" sz="1400" dirty="0"/>
              <a:t>, etc. Muy duradero y escalable.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ES" b="1" dirty="0"/>
              <a:t>ALB (</a:t>
            </a:r>
            <a:r>
              <a:rPr lang="es-ES" b="1" dirty="0" err="1"/>
              <a:t>Application</a:t>
            </a:r>
            <a:r>
              <a:rPr lang="es-ES" b="1" dirty="0"/>
              <a:t> Load </a:t>
            </a:r>
            <a:r>
              <a:rPr lang="es-ES" b="1" dirty="0" err="1"/>
              <a:t>Balancer</a:t>
            </a:r>
            <a:r>
              <a:rPr lang="es-ES" b="1" dirty="0"/>
              <a:t>)</a:t>
            </a:r>
          </a:p>
          <a:p>
            <a:pPr marL="0" indent="0">
              <a:buNone/>
            </a:pPr>
            <a:r>
              <a:rPr lang="es-ES" sz="1400" dirty="0"/>
              <a:t>Balanceador de carga a nivel de aplicación (capa 7). Distribuye tráfico entrante entre múltiples instancias o contenedores</a:t>
            </a:r>
            <a:r>
              <a:rPr lang="es-ES" sz="1400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ES" b="1" dirty="0"/>
              <a:t>IAM (</a:t>
            </a:r>
            <a:r>
              <a:rPr lang="es-ES" b="1" dirty="0" err="1"/>
              <a:t>Identity</a:t>
            </a:r>
            <a:r>
              <a:rPr lang="es-ES" b="1" dirty="0"/>
              <a:t> and Access Management)</a:t>
            </a:r>
          </a:p>
          <a:p>
            <a:pPr marL="0" indent="0">
              <a:buNone/>
            </a:pPr>
            <a:r>
              <a:rPr lang="es-ES" sz="1400" dirty="0"/>
              <a:t>Gestiona usuarios, roles y permisos. Controla quién puede hacer qué dentro de tu cuenta de AWS.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ES" dirty="0"/>
              <a:t>ACM (AWS </a:t>
            </a:r>
            <a:r>
              <a:rPr lang="es-ES" dirty="0" err="1"/>
              <a:t>Certificate</a:t>
            </a:r>
            <a:r>
              <a:rPr lang="es-ES" dirty="0"/>
              <a:t> Manager</a:t>
            </a:r>
            <a:r>
              <a:rPr lang="es-ES" dirty="0" smtClean="0"/>
              <a:t>)</a:t>
            </a:r>
          </a:p>
          <a:p>
            <a:pPr marL="0" indent="0">
              <a:buNone/>
            </a:pPr>
            <a:r>
              <a:rPr lang="es-ES" sz="1400" dirty="0" smtClean="0"/>
              <a:t>Maneja</a:t>
            </a:r>
            <a:r>
              <a:rPr lang="es-ES" dirty="0" smtClean="0"/>
              <a:t> </a:t>
            </a:r>
            <a:r>
              <a:rPr lang="es-ES" sz="1400" dirty="0"/>
              <a:t>certificados SSL/TLS para cifrar el tráfico web. Muy útil para sitios web seguros (https://).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90700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" y="691687"/>
            <a:ext cx="7802880" cy="549480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040" y="-228782"/>
            <a:ext cx="8053366" cy="366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103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4424" y="2595154"/>
            <a:ext cx="10353761" cy="1326321"/>
          </a:xfrm>
        </p:spPr>
        <p:txBody>
          <a:bodyPr/>
          <a:lstStyle/>
          <a:p>
            <a:r>
              <a:rPr lang="es-ES" dirty="0" smtClean="0"/>
              <a:t>Funcionalidad de la aplicación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20278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i="1" dirty="0"/>
              <a:t>Limitaciones</a:t>
            </a:r>
            <a:r>
              <a:rPr lang="es-ES" dirty="0"/>
              <a:t> del sistema y líneas de evolución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" dirty="0"/>
              <a:t> Limitaciones actuales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3844168"/>
          </a:xfrm>
        </p:spPr>
        <p:txBody>
          <a:bodyPr>
            <a:normAutofit/>
          </a:bodyPr>
          <a:lstStyle/>
          <a:p>
            <a:r>
              <a:rPr lang="es-ES" b="1" dirty="0"/>
              <a:t>Escalabilidad limitada: </a:t>
            </a:r>
            <a:r>
              <a:rPr lang="es-ES" sz="1500" dirty="0"/>
              <a:t>uso de una única instancia EC2 t2.micro</a:t>
            </a:r>
            <a:r>
              <a:rPr lang="es-ES" sz="1500" dirty="0" smtClean="0"/>
              <a:t>.</a:t>
            </a:r>
          </a:p>
          <a:p>
            <a:r>
              <a:rPr lang="es-ES" b="1" dirty="0" smtClean="0"/>
              <a:t>Interfaz </a:t>
            </a:r>
            <a:r>
              <a:rPr lang="es-ES" b="1" dirty="0"/>
              <a:t>básica: </a:t>
            </a:r>
            <a:r>
              <a:rPr lang="es-ES" sz="1500" dirty="0"/>
              <a:t>poco atractiva, sin componentes modernos</a:t>
            </a:r>
            <a:r>
              <a:rPr lang="es-ES" sz="1500" dirty="0" smtClean="0"/>
              <a:t>.</a:t>
            </a:r>
          </a:p>
          <a:p>
            <a:r>
              <a:rPr lang="es-ES" sz="1500" dirty="0" smtClean="0"/>
              <a:t>No </a:t>
            </a:r>
            <a:r>
              <a:rPr lang="es-ES" sz="1500" dirty="0"/>
              <a:t>permite integraciones externas ni apps móviles</a:t>
            </a:r>
            <a:r>
              <a:rPr lang="es-ES" sz="1500" dirty="0" smtClean="0"/>
              <a:t>.</a:t>
            </a:r>
          </a:p>
          <a:p>
            <a:r>
              <a:rPr lang="es-ES" b="1" dirty="0" smtClean="0"/>
              <a:t>Autenticación </a:t>
            </a:r>
            <a:r>
              <a:rPr lang="es-ES" b="1" dirty="0"/>
              <a:t>simple: </a:t>
            </a:r>
            <a:r>
              <a:rPr lang="es-ES" sz="1500" dirty="0"/>
              <a:t>basada en sesiones PHP, sin </a:t>
            </a:r>
            <a:r>
              <a:rPr lang="es-ES" sz="1500" dirty="0" err="1"/>
              <a:t>tokens</a:t>
            </a:r>
            <a:r>
              <a:rPr lang="es-ES" sz="1500" dirty="0" smtClean="0"/>
              <a:t>.</a:t>
            </a:r>
          </a:p>
          <a:p>
            <a:r>
              <a:rPr lang="es-ES" b="1" dirty="0" smtClean="0"/>
              <a:t>Monitoreo </a:t>
            </a:r>
            <a:r>
              <a:rPr lang="es-ES" b="1" dirty="0"/>
              <a:t>limitado: </a:t>
            </a:r>
            <a:r>
              <a:rPr lang="es-ES" sz="1500" dirty="0"/>
              <a:t>solo </a:t>
            </a:r>
            <a:r>
              <a:rPr lang="es-ES" sz="1500" dirty="0" err="1"/>
              <a:t>logs</a:t>
            </a:r>
            <a:r>
              <a:rPr lang="es-ES" sz="1500" dirty="0"/>
              <a:t> básicos, sin métricas o alertas avanzadas.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dirty="0"/>
              <a:t>Mejoras futuras propuestas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3844168"/>
          </a:xfrm>
        </p:spPr>
        <p:txBody>
          <a:bodyPr>
            <a:normAutofit fontScale="92500" lnSpcReduction="20000"/>
          </a:bodyPr>
          <a:lstStyle/>
          <a:p>
            <a:r>
              <a:rPr lang="es-ES" b="1" dirty="0"/>
              <a:t>JWT</a:t>
            </a:r>
            <a:r>
              <a:rPr lang="es-ES" dirty="0"/>
              <a:t>: </a:t>
            </a:r>
            <a:r>
              <a:rPr lang="es-ES" sz="1600" dirty="0"/>
              <a:t>Autenticación segura, separación </a:t>
            </a:r>
            <a:r>
              <a:rPr lang="es-ES" sz="1600" dirty="0" err="1"/>
              <a:t>frontend</a:t>
            </a:r>
            <a:r>
              <a:rPr lang="es-ES" sz="1600" dirty="0"/>
              <a:t>/</a:t>
            </a:r>
            <a:r>
              <a:rPr lang="es-ES" sz="1600" dirty="0" err="1"/>
              <a:t>backend</a:t>
            </a:r>
            <a:r>
              <a:rPr lang="es-ES" sz="1600" dirty="0"/>
              <a:t>, soporte para apps móviles</a:t>
            </a:r>
            <a:r>
              <a:rPr lang="es-ES" sz="1600" dirty="0" smtClean="0"/>
              <a:t>.</a:t>
            </a:r>
          </a:p>
          <a:p>
            <a:r>
              <a:rPr lang="es-ES" b="1" dirty="0" smtClean="0"/>
              <a:t>UI </a:t>
            </a:r>
            <a:r>
              <a:rPr lang="es-ES" b="1" dirty="0"/>
              <a:t>moderna: </a:t>
            </a:r>
            <a:r>
              <a:rPr lang="es-ES" sz="1600" dirty="0"/>
              <a:t>Nuevo </a:t>
            </a:r>
            <a:r>
              <a:rPr lang="es-ES" sz="1600" dirty="0" err="1"/>
              <a:t>frontend</a:t>
            </a:r>
            <a:r>
              <a:rPr lang="es-ES" sz="1600" dirty="0"/>
              <a:t> con Vue.js/</a:t>
            </a:r>
            <a:r>
              <a:rPr lang="es-ES" sz="1600" dirty="0" err="1"/>
              <a:t>React</a:t>
            </a:r>
            <a:r>
              <a:rPr lang="es-ES" sz="1600" dirty="0"/>
              <a:t>, interacción dinámica y notificaciones</a:t>
            </a:r>
            <a:r>
              <a:rPr lang="es-ES" sz="1600" dirty="0" smtClean="0"/>
              <a:t>.</a:t>
            </a:r>
          </a:p>
          <a:p>
            <a:r>
              <a:rPr lang="es-ES" b="1" dirty="0" smtClean="0"/>
              <a:t>API </a:t>
            </a:r>
            <a:r>
              <a:rPr lang="es-ES" b="1" dirty="0" err="1"/>
              <a:t>RESTful</a:t>
            </a:r>
            <a:r>
              <a:rPr lang="es-ES" dirty="0"/>
              <a:t>: </a:t>
            </a:r>
            <a:r>
              <a:rPr lang="es-ES" sz="1600" dirty="0"/>
              <a:t>Integración con otros sistemas, automatización y </a:t>
            </a:r>
            <a:r>
              <a:rPr lang="es-ES" sz="1600" dirty="0" smtClean="0"/>
              <a:t>documentación.</a:t>
            </a:r>
          </a:p>
          <a:p>
            <a:r>
              <a:rPr lang="es-ES" b="1" dirty="0" err="1" smtClean="0"/>
              <a:t>DynamoDB</a:t>
            </a:r>
            <a:r>
              <a:rPr lang="es-ES" b="1" dirty="0"/>
              <a:t>: </a:t>
            </a:r>
            <a:r>
              <a:rPr lang="es-ES" sz="1600" dirty="0"/>
              <a:t>Versión </a:t>
            </a:r>
            <a:r>
              <a:rPr lang="es-ES" sz="1600" dirty="0" err="1"/>
              <a:t>NoSQL</a:t>
            </a:r>
            <a:r>
              <a:rPr lang="es-ES" sz="1600" dirty="0"/>
              <a:t> para comparar escalabilidad con </a:t>
            </a:r>
            <a:r>
              <a:rPr lang="es-ES" sz="1600" dirty="0" err="1"/>
              <a:t>MySQL</a:t>
            </a:r>
            <a:r>
              <a:rPr lang="es-ES" sz="1600" dirty="0" smtClean="0"/>
              <a:t>.</a:t>
            </a:r>
          </a:p>
          <a:p>
            <a:r>
              <a:rPr lang="es-ES" b="1" dirty="0" err="1" smtClean="0"/>
              <a:t>Backups</a:t>
            </a:r>
            <a:r>
              <a:rPr lang="es-ES" b="1" dirty="0" smtClean="0"/>
              <a:t> </a:t>
            </a:r>
            <a:r>
              <a:rPr lang="es-ES" b="1" dirty="0"/>
              <a:t>en S3</a:t>
            </a:r>
            <a:r>
              <a:rPr lang="es-ES" dirty="0"/>
              <a:t>: </a:t>
            </a:r>
            <a:r>
              <a:rPr lang="es-ES" sz="1600" dirty="0"/>
              <a:t>Exportación automática desde RDS para recuperación ante fallos</a:t>
            </a:r>
            <a:r>
              <a:rPr lang="es-ES" sz="1600" dirty="0" smtClean="0"/>
              <a:t>.</a:t>
            </a:r>
          </a:p>
          <a:p>
            <a:r>
              <a:rPr lang="es-ES" b="1" dirty="0" smtClean="0"/>
              <a:t>Monitorización</a:t>
            </a:r>
            <a:r>
              <a:rPr lang="es-ES" b="1" dirty="0"/>
              <a:t>: </a:t>
            </a:r>
            <a:r>
              <a:rPr lang="es-ES" sz="1600" dirty="0" err="1"/>
              <a:t>Dashboards</a:t>
            </a:r>
            <a:r>
              <a:rPr lang="es-ES" sz="1600" dirty="0"/>
              <a:t> con </a:t>
            </a:r>
            <a:r>
              <a:rPr lang="es-ES" sz="1600" dirty="0" err="1" smtClean="0"/>
              <a:t>CloudWatch</a:t>
            </a:r>
            <a:r>
              <a:rPr lang="es-ES" sz="1600" dirty="0" smtClean="0"/>
              <a:t>.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88354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275</TotalTime>
  <Words>641</Words>
  <Application>Microsoft Office PowerPoint</Application>
  <PresentationFormat>Panorámica</PresentationFormat>
  <Paragraphs>99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Bookman Old Style</vt:lpstr>
      <vt:lpstr>Rockwell</vt:lpstr>
      <vt:lpstr>Wingdings</vt:lpstr>
      <vt:lpstr>Damask</vt:lpstr>
      <vt:lpstr>Presentación de PowerPoint</vt:lpstr>
      <vt:lpstr>Finalidad del proyecto</vt:lpstr>
      <vt:lpstr>Arquitectura de la aplicación </vt:lpstr>
      <vt:lpstr>Arquitectura de la aplicación</vt:lpstr>
      <vt:lpstr>micro servicios AWS</vt:lpstr>
      <vt:lpstr>Presentación de PowerPoint</vt:lpstr>
      <vt:lpstr>Funcionalidad de la aplicación</vt:lpstr>
      <vt:lpstr>Limitaciones del sistema y líneas de evolución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 bertos</dc:creator>
  <cp:lastModifiedBy>jose bertos</cp:lastModifiedBy>
  <cp:revision>22</cp:revision>
  <dcterms:created xsi:type="dcterms:W3CDTF">2025-06-13T19:16:55Z</dcterms:created>
  <dcterms:modified xsi:type="dcterms:W3CDTF">2025-06-15T17:47:24Z</dcterms:modified>
</cp:coreProperties>
</file>